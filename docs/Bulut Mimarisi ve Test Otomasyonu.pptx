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Inter"/>
      <p:regular r:id="rId14"/>
      <p:bold r:id="rId15"/>
      <p:italic r:id="rId16"/>
      <p:boldItalic r:id="rId17"/>
    </p:embeddedFont>
    <p:embeddedFont>
      <p:font typeface="Fira Code"/>
      <p:regular r:id="rId18"/>
      <p:bold r:id="rId19"/>
    </p:embeddedFont>
    <p:embeddedFont>
      <p:font typeface="Inter Medium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Medium-regular.fntdata"/><Relationship Id="rId11" Type="http://schemas.openxmlformats.org/officeDocument/2006/relationships/slide" Target="slides/slide6.xml"/><Relationship Id="rId22" Type="http://schemas.openxmlformats.org/officeDocument/2006/relationships/font" Target="fonts/InterMedium-italic.fntdata"/><Relationship Id="rId10" Type="http://schemas.openxmlformats.org/officeDocument/2006/relationships/slide" Target="slides/slide5.xml"/><Relationship Id="rId21" Type="http://schemas.openxmlformats.org/officeDocument/2006/relationships/font" Target="fonts/InterMedium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Inter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FiraCode-bold.fntdata"/><Relationship Id="rId6" Type="http://schemas.openxmlformats.org/officeDocument/2006/relationships/slide" Target="slides/slide1.xml"/><Relationship Id="rId18" Type="http://schemas.openxmlformats.org/officeDocument/2006/relationships/font" Target="fonts/FiraCod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9" Type="http://schemas.openxmlformats.org/officeDocument/2006/relationships/image" Target="../media/image18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6.png"/><Relationship Id="rId7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2601366"/>
            <a:ext cx="9001125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Bulut Mimarisi &amp; Test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525291"/>
            <a:ext cx="85725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Modern Uygulamalar İçin CI/CD, Gözlemlenebilirlik (Observability) ve Güvenilir Uçtan Uca Test Altyapısı Projesi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71500" y="1971675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Neden böyle bir test pipeline sistemine ihtiyaç duyduk?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857250" y="241935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Problem: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Manuel testlerin getirdiği insan kaynaklı hatalar, yavaş dağıtım (deployment) süreleri ve canlı ortam sürprizleri.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857250" y="352425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Çözüm: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Kod değişikliklerinde otomatik tetiklenen, izole ortamda (LocalStack) çalışan entegre bir CI/CD test mekanizması.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57250" y="462915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Motivasyon: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Canlıya çıkış sürelerini hızlandırmak, mikroservis yapılarında gerileme (regression) riskini en aza indirmek.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4193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35242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46291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Problem ve Çözüm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571500" y="571500"/>
            <a:ext cx="52006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Sistem Mimarisi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57250" y="2157412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Uygulama Katmanı: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FastAPI tabanlı Python mikroservisi.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57250" y="2957512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Veritabanı &amp; Bağımlılıklar: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PostgreSQL ve AWS servis simülasyonları için LocalStack.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57250" y="3757612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Orkestrasyon: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Kubernetes (K8s) ile konteyner yönetimi ve ölçekleme.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57250" y="4557712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Pipeline: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GitHub Actions üzerinden CI/CD.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57250" y="5053012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Monitoring: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Prometheus &amp; Grafana.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2157412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2957512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3757612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4557712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5053012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43112"/>
            <a:ext cx="3492549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43112"/>
            <a:ext cx="3492549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43112"/>
            <a:ext cx="3492549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866775" y="3138487"/>
            <a:ext cx="26003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Birim (Unit) Testler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66775" y="3605212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İzole edilmiş servis fonksiyonlarının testleri. Veritabanı ve dış kaynaklar </a:t>
            </a:r>
            <a:r>
              <a:rPr b="1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mock'lanarak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hızlı geri bildirim döngüsü elde edildi.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645074" y="3138487"/>
            <a:ext cx="283035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Entegrasyon Testleri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645074" y="3605212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Uygulamanın PostgreSQL ve LocalStack (AWS) ile olan iletişimi test konteynerleri üzerinde gerçek bağlantılar kurularak doğrulandı.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423374" y="3138487"/>
            <a:ext cx="248031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E2E &amp; Yük Testleri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423374" y="3605212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Kullanıcı perspektifinden </a:t>
            </a:r>
            <a:r>
              <a:rPr b="1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uçtan uca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Postman senaryoları koşuldu ve K6 kullanılarak sistemin anlık yük altında tepkisi ölçüldü.</a:t>
            </a:r>
            <a:endParaRPr/>
          </a:p>
        </p:txBody>
      </p:sp>
      <p:pic>
        <p:nvPicPr>
          <p:cNvPr descr="image.png" id="130" name="Google Shape;13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4717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47173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471737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Test Stratejisi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67237"/>
            <a:ext cx="254124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7419" y="2376487"/>
            <a:ext cx="254124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3339" y="4567237"/>
            <a:ext cx="254124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9259" y="2376487"/>
            <a:ext cx="254124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/>
          <p:nvPr/>
        </p:nvSpPr>
        <p:spPr>
          <a:xfrm>
            <a:off x="571500" y="4214812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717995" y="4852094"/>
            <a:ext cx="224824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1. Kod Kalitesi (Lint)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771525" y="5175944"/>
            <a:ext cx="214119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Push sonrası kod Black, Ruff gibi araçlarla analiz edilir.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3553915" y="2539454"/>
            <a:ext cx="224824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2. Test Yürütme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3607444" y="2863304"/>
            <a:ext cx="214119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Pytest kullanılarak izole ortamda tüm Unit ve Integration testleri çalışır.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389835" y="4730204"/>
            <a:ext cx="224824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3. Build &amp; Push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443364" y="5054054"/>
            <a:ext cx="214119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Başarılı testler sonrası Docker imajı derlenir ve Registry'ye gönderilir.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9225755" y="2539454"/>
            <a:ext cx="224824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4. K8s Deploy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9279284" y="2863304"/>
            <a:ext cx="214119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Yeni versiyon K8s cluster'ına "Rolling Update" stratejisi ile dağıtılır.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1727820" y="41195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4563740" y="41195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399659" y="41195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10235579" y="41195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CI/CD Pipeline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52612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71500" y="2276475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Veri Akışının Kesintisiz Takibi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857250" y="27241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Grafana Dashboard: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API istek sayıları, gecikme ve sistem sağlığı metrikleri anlık (real-time) izleniyor.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857250" y="35242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Prometheus: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K8s Pod'larından toplanan CPU, RAM ve HTTP request/response metrik analizleri.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857250" y="432435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Proaktif Alarmlar: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Hata oranları (%5xx serisi) artarsa veya p95 gecikme süresi hedefin üzerine çıkarsa otomatik bildirimler devreye giriyor.</a:t>
            </a:r>
            <a:endParaRPr/>
          </a:p>
        </p:txBody>
      </p:sp>
      <p:pic>
        <p:nvPicPr>
          <p:cNvPr descr="image.png" id="167" name="Google Shape;16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862137"/>
            <a:ext cx="5219699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571500" y="27241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571500" y="35242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571500" y="43243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Monitoring &amp; Gözlemlenebilirlik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1638300"/>
            <a:ext cx="4095750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638300"/>
            <a:ext cx="4095750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905250"/>
            <a:ext cx="4095750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3905250"/>
            <a:ext cx="4095750" cy="21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2200275" y="2028825"/>
            <a:ext cx="3314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%87+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2200275" y="2857500"/>
            <a:ext cx="3314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Test Kapsamı (Coverage)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677025" y="2028825"/>
            <a:ext cx="3314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150+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677025" y="2857500"/>
            <a:ext cx="3314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Otomatize Edilmiş Test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2200275" y="4433887"/>
            <a:ext cx="3314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120ms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2200275" y="5262562"/>
            <a:ext cx="3314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Hedeflenen p95 Gecikmesi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677025" y="4295775"/>
            <a:ext cx="3314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&lt; 3dk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677025" y="5124450"/>
            <a:ext cx="33147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Ortalama Dağıtım (Deploy) Süresi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Sayılarla Proje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/>
          <p:nvPr/>
        </p:nvSpPr>
        <p:spPr>
          <a:xfrm>
            <a:off x="857250" y="1543050"/>
            <a:ext cx="10477500" cy="1200150"/>
          </a:xfrm>
          <a:prstGeom prst="roundRect">
            <a:avLst>
              <a:gd fmla="val 9523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1714500" y="1828800"/>
            <a:ext cx="9239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Kubernetes Yapılandırması: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Dağıtılmış bir sistemde K8s Deployment ve Service port bağlantılarını kurmak, dış dünyaya uygulamayı güvenli açmak en karmaşık zorluklardan biriydi.</a:t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857250" y="2981325"/>
            <a:ext cx="10477500" cy="1504950"/>
          </a:xfrm>
          <a:prstGeom prst="roundRect">
            <a:avLst>
              <a:gd fmla="val 7594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1714500" y="3267075"/>
            <a:ext cx="9239250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LocalStack Senkronizasyonu: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CI hattında testcontainers ile AWS simülasyonunu (LocalStack) asenkron çalıştırırken karşılaştığım bekleme (race condition) sorunlarını, sağlık kontrolleri (health checks) ile çözdüm.</a:t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857250" y="4724400"/>
            <a:ext cx="10477500" cy="1200150"/>
          </a:xfrm>
          <a:prstGeom prst="roundRect">
            <a:avLst>
              <a:gd fmla="val 9523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1714500" y="5010150"/>
            <a:ext cx="9239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Hızlı Geri Bildirim Döngüsü: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Sağlam bir test piramidi inşa etmenin, uygulamanın ilerleyen fazlarında ortaya çıkan regresyon hatalarını ne kadar hızlı tespit edip eforu azalttığını deneyimledim.</a:t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857250" y="2733675"/>
            <a:ext cx="10477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857250" y="4476750"/>
            <a:ext cx="10477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857250" y="5915025"/>
            <a:ext cx="10477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4" name="Google Shape;20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0150" y="1847850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00150" y="3286125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50" y="5029200"/>
            <a:ext cx="2286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Öğrendiklerim &amp; Zorluklar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